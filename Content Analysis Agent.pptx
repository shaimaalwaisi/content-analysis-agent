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E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46CFDD"/>
                </a:solidFill>
                <a:latin typeface="Consolas"/>
              </a:rPr>
              <a:t>SONY EUROPE · AI ENGINEER TASK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95728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Content Analysis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8778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>
                <a:solidFill>
                  <a:srgbClr val="B8C6CB"/>
                </a:solidFill>
                <a:latin typeface="Calibri"/>
              </a:rPr>
              <a:t>Tagging retail product images with marketing terminology — and showing its working.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8A979C"/>
                </a:solidFill>
                <a:latin typeface="Consolas"/>
              </a:rPr>
              <a:t>LangGraph · Claude Haiku 4.5 · CLI + Streamlit · 118 offline tests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E8C9B"/>
                </a:solidFill>
                <a:latin typeface="Consolas"/>
              </a:rPr>
              <a:t>PROBLEM &amp;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229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E21"/>
                </a:solidFill>
                <a:latin typeface="Calibri"/>
              </a:rPr>
              <a:t>Thousands of images, none searchable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05840" cy="44450"/>
          </a:xfrm>
          <a:prstGeom prst="rect">
            <a:avLst/>
          </a:prstGeom>
          <a:solidFill>
            <a:srgbClr val="0E8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1A1E21"/>
                </a:solidFill>
                <a:latin typeface="Calibri"/>
              </a:rPr>
              <a:t>The pain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600">
                <a:solidFill>
                  <a:srgbClr val="5A6A70"/>
                </a:solidFill>
                <a:latin typeface="Calibri"/>
              </a:rPr>
              <a:t>Creators browse product pages by eye to find what works.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600">
                <a:solidFill>
                  <a:srgbClr val="5A6A70"/>
                </a:solidFill>
                <a:latin typeface="Calibri"/>
              </a:rPr>
              <a:t>Nothing in an image is queryable — you cannot ask which shots show the camera.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600">
                <a:solidFill>
                  <a:srgbClr val="5A6A70"/>
                </a:solidFill>
                <a:latin typeface="Calibri"/>
              </a:rPr>
              <a:t>Free text drifts: “side view” today, “side-on” tomorrow.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1A1E21"/>
                </a:solidFill>
                <a:latin typeface="Calibri"/>
              </a:rPr>
              <a:t>What this delivers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860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600" b="1">
                <a:solidFill>
                  <a:srgbClr val="1A1E21"/>
                </a:solidFill>
                <a:latin typeface="Calibri"/>
              </a:rPr>
              <a:t>Every image tagged </a:t>
            </a:r>
            <a:r>
              <a:rPr sz="1600">
                <a:solidFill>
                  <a:srgbClr val="5A6A70"/>
                </a:solidFill>
                <a:latin typeface="Calibri"/>
              </a:rPr>
              <a:t>from one fixed 43-word vocabulary, so the output joins to anything.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600" b="1">
                <a:solidFill>
                  <a:srgbClr val="1A1E21"/>
                </a:solidFill>
                <a:latin typeface="Calibri"/>
              </a:rPr>
              <a:t>A reason per tag </a:t>
            </a:r>
            <a:r>
              <a:rPr sz="1600">
                <a:solidFill>
                  <a:srgbClr val="5A6A70"/>
                </a:solidFill>
                <a:latin typeface="Calibri"/>
              </a:rPr>
              <a:t>so a reviewer checks the thinking, not just the label.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600" b="1">
                <a:solidFill>
                  <a:srgbClr val="1A1E21"/>
                </a:solidFill>
                <a:latin typeface="Calibri"/>
              </a:rPr>
              <a:t>Tags joined to views </a:t>
            </a:r>
            <a:r>
              <a:rPr sz="1600">
                <a:solidFill>
                  <a:srgbClr val="5A6A70"/>
                </a:solidFill>
                <a:latin typeface="Calibri"/>
              </a:rPr>
              <a:t>which answers the question actually asked.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709160"/>
            <a:ext cx="2606040" cy="1234440"/>
          </a:xfrm>
          <a:prstGeom prst="roundRect">
            <a:avLst>
              <a:gd name="adj" fmla="val 16000"/>
            </a:avLst>
          </a:prstGeom>
          <a:solidFill>
            <a:srgbClr val="F7F8F7"/>
          </a:solidFill>
          <a:ln w="22225">
            <a:solidFill>
              <a:srgbClr val="D3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489204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0E8C9B"/>
                </a:solidFill>
                <a:latin typeface="Calibri"/>
              </a:rPr>
              <a:t>1.68x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349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5A6A70"/>
                </a:solidFill>
                <a:latin typeface="Consolas"/>
              </a:rPr>
              <a:t>awards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4709160"/>
            <a:ext cx="2606040" cy="1234440"/>
          </a:xfrm>
          <a:prstGeom prst="roundRect">
            <a:avLst>
              <a:gd name="adj" fmla="val 16000"/>
            </a:avLst>
          </a:prstGeom>
          <a:solidFill>
            <a:srgbClr val="F7F8F7"/>
          </a:solidFill>
          <a:ln w="22225">
            <a:solidFill>
              <a:srgbClr val="D3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703320" y="489204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0E8C9B"/>
                </a:solidFill>
                <a:latin typeface="Calibri"/>
              </a:rPr>
              <a:t>1.67x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349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5A6A70"/>
                </a:solidFill>
                <a:latin typeface="Consolas"/>
              </a:rPr>
              <a:t>product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4709160"/>
            <a:ext cx="2606040" cy="1234440"/>
          </a:xfrm>
          <a:prstGeom prst="roundRect">
            <a:avLst>
              <a:gd name="adj" fmla="val 16000"/>
            </a:avLst>
          </a:prstGeom>
          <a:solidFill>
            <a:srgbClr val="F7F8F7"/>
          </a:solidFill>
          <a:ln w="22225">
            <a:solidFill>
              <a:srgbClr val="D3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2240" y="489204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0E8C9B"/>
                </a:solidFill>
                <a:latin typeface="Calibri"/>
              </a:rPr>
              <a:t>1.47x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5349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5A6A70"/>
                </a:solidFill>
                <a:latin typeface="Consolas"/>
              </a:rPr>
              <a:t>person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59" y="4709160"/>
            <a:ext cx="2606040" cy="1234440"/>
          </a:xfrm>
          <a:prstGeom prst="roundRect">
            <a:avLst>
              <a:gd name="adj" fmla="val 16000"/>
            </a:avLst>
          </a:prstGeom>
          <a:solidFill>
            <a:srgbClr val="F7F8F7"/>
          </a:solidFill>
          <a:ln w="22225">
            <a:solidFill>
              <a:srgbClr val="D3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281159" y="489204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0E8C9B"/>
                </a:solidFill>
                <a:latin typeface="Calibri"/>
              </a:rPr>
              <a:t>0.52x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59" y="5349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5A6A70"/>
                </a:solidFill>
                <a:latin typeface="Consolas"/>
              </a:rPr>
              <a:t>connectivity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2362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A979C"/>
                </a:solidFill>
                <a:latin typeface="Calibri"/>
              </a:rPr>
              <a:t>Average views versus the overall mean, from meta_data.xlsx (n=44 images with view counts). Social proof and orienting shots out-perform spec detail.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E8C9B"/>
                </a:solidFill>
                <a:latin typeface="Consolas"/>
              </a:rPr>
              <a:t>AGENT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229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E21"/>
                </a:solidFill>
                <a:latin typeface="Calibri"/>
              </a:rPr>
              <a:t>Three nodes, one branch, one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05840" cy="44450"/>
          </a:xfrm>
          <a:prstGeom prst="rect">
            <a:avLst/>
          </a:prstGeom>
          <a:solidFill>
            <a:srgbClr val="0E8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286000" y="2395728"/>
            <a:ext cx="7589520" cy="3017520"/>
          </a:xfrm>
          <a:prstGeom prst="roundRect">
            <a:avLst>
              <a:gd name="adj" fmla="val 6000"/>
            </a:avLst>
          </a:prstGeom>
          <a:solidFill>
            <a:srgbClr val="F7F8F7"/>
          </a:solidFill>
          <a:ln w="31750">
            <a:solidFill>
              <a:srgbClr val="1A1E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468880" y="219456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1A1E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onsolas"/>
              </a:rPr>
              <a:t>THE AGENT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3090672"/>
            <a:ext cx="960120" cy="96926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D3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0120" y="3392424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A1E21"/>
                </a:solidFill>
                <a:latin typeface="Calibri"/>
              </a:rPr>
              <a:t>image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20240" y="3575304"/>
            <a:ext cx="585216" cy="0"/>
          </a:xfrm>
          <a:prstGeom prst="line">
            <a:avLst/>
          </a:prstGeom>
          <a:ln w="22225">
            <a:solidFill>
              <a:srgbClr val="1A1E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60320" y="3090672"/>
            <a:ext cx="1783080" cy="969264"/>
          </a:xfrm>
          <a:prstGeom prst="roundRect">
            <a:avLst>
              <a:gd name="adj" fmla="val 16000"/>
            </a:avLst>
          </a:prstGeom>
          <a:solidFill>
            <a:srgbClr val="E2F2F4"/>
          </a:solidFill>
          <a:ln w="22225">
            <a:solidFill>
              <a:srgbClr val="0E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743200" y="323697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A1E21"/>
                </a:solidFill>
                <a:latin typeface="Calibri"/>
              </a:rPr>
              <a:t>1  prepare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56616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5A6A70"/>
                </a:solidFill>
                <a:latin typeface="Calibri"/>
              </a:rPr>
              <a:t>check memory first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343400" y="3575304"/>
            <a:ext cx="475488" cy="0"/>
          </a:xfrm>
          <a:prstGeom prst="line">
            <a:avLst/>
          </a:prstGeom>
          <a:ln w="22225">
            <a:solidFill>
              <a:srgbClr val="1A1E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873752" y="3090672"/>
            <a:ext cx="2331720" cy="969264"/>
          </a:xfrm>
          <a:prstGeom prst="roundRect">
            <a:avLst>
              <a:gd name="adj" fmla="val 16000"/>
            </a:avLst>
          </a:prstGeom>
          <a:solidFill>
            <a:srgbClr val="FBE6EC"/>
          </a:solidFill>
          <a:ln w="22225">
            <a:solidFill>
              <a:srgbClr val="C92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56632" y="319125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A1E21"/>
                </a:solidFill>
                <a:latin typeface="Calibri"/>
              </a:rPr>
              <a:t>2  analyze image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56632" y="3511296"/>
            <a:ext cx="457200" cy="201168"/>
          </a:xfrm>
          <a:prstGeom prst="roundRect">
            <a:avLst>
              <a:gd name="adj" fmla="val 40000"/>
            </a:avLst>
          </a:prstGeom>
          <a:solidFill>
            <a:srgbClr val="C926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VLM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86984" y="3520439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5A6A70"/>
                </a:solidFill>
                <a:latin typeface="Calibri"/>
              </a:rPr>
              <a:t>Claude Haiku 4.5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6632" y="3785615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5A6A70"/>
                </a:solidFill>
                <a:latin typeface="Calibri"/>
              </a:rPr>
              <a:t>both sets of tags merge here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205472" y="3575304"/>
            <a:ext cx="475488" cy="0"/>
          </a:xfrm>
          <a:prstGeom prst="line">
            <a:avLst/>
          </a:prstGeom>
          <a:ln w="22225">
            <a:solidFill>
              <a:srgbClr val="1A1E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735824" y="3090672"/>
            <a:ext cx="1783080" cy="969264"/>
          </a:xfrm>
          <a:prstGeom prst="roundRect">
            <a:avLst>
              <a:gd name="adj" fmla="val 16000"/>
            </a:avLst>
          </a:prstGeom>
          <a:solidFill>
            <a:srgbClr val="ECE7FA"/>
          </a:solidFill>
          <a:ln w="22225">
            <a:solidFill>
              <a:srgbClr val="5B3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918704" y="323697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A1E21"/>
                </a:solidFill>
                <a:latin typeface="Calibri"/>
              </a:rPr>
              <a:t>3  persist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18704" y="356616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5A6A70"/>
                </a:solidFill>
                <a:latin typeface="Calibri"/>
              </a:rPr>
              <a:t>save the answer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518904" y="3575304"/>
            <a:ext cx="448056" cy="0"/>
          </a:xfrm>
          <a:prstGeom prst="line">
            <a:avLst/>
          </a:prstGeom>
          <a:ln w="22225">
            <a:solidFill>
              <a:srgbClr val="1A1E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0021824" y="3090672"/>
            <a:ext cx="1051560" cy="96926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D3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021824" y="339242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A1E21"/>
                </a:solidFill>
                <a:latin typeface="Calibri"/>
              </a:rPr>
              <a:t>results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75504" y="1737360"/>
            <a:ext cx="1737360" cy="566928"/>
          </a:xfrm>
          <a:prstGeom prst="roundRect">
            <a:avLst>
              <a:gd name="adj" fmla="val 16000"/>
            </a:avLst>
          </a:prstGeom>
          <a:solidFill>
            <a:srgbClr val="F8EEDC"/>
          </a:solidFill>
          <a:ln w="22225">
            <a:solidFill>
              <a:srgbClr val="B06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5340096" y="1837943"/>
            <a:ext cx="512064" cy="201168"/>
          </a:xfrm>
          <a:prstGeom prst="roundRect">
            <a:avLst>
              <a:gd name="adj" fmla="val 40000"/>
            </a:avLst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TOOL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40096" y="20574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A1E21"/>
                </a:solidFill>
                <a:latin typeface="Calibri"/>
              </a:rPr>
              <a:t>web search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5532120" y="2331720"/>
            <a:ext cx="0" cy="758952"/>
          </a:xfrm>
          <a:prstGeom prst="line">
            <a:avLst/>
          </a:prstGeom>
          <a:ln w="22225">
            <a:solidFill>
              <a:srgbClr val="B06E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537960" y="2331720"/>
            <a:ext cx="0" cy="758952"/>
          </a:xfrm>
          <a:prstGeom prst="line">
            <a:avLst/>
          </a:prstGeom>
          <a:ln w="22225">
            <a:solidFill>
              <a:srgbClr val="B06E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160520" y="263347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B06E00"/>
                </a:solidFill>
                <a:latin typeface="Consolas"/>
              </a:rPr>
              <a:t>asks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254203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B06E00"/>
                </a:solidFill>
                <a:latin typeface="Consolas"/>
              </a:rPr>
              <a:t>text comes back into step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277977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A979C"/>
                </a:solidFill>
                <a:latin typeface="Consolas"/>
              </a:rPr>
              <a:t>only with --enrich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675120" y="4059935"/>
            <a:ext cx="0" cy="292609"/>
          </a:xfrm>
          <a:prstGeom prst="line">
            <a:avLst/>
          </a:prstGeom>
          <a:ln w="22225">
            <a:solidFill>
              <a:srgbClr val="C926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5394960" y="4352544"/>
            <a:ext cx="1280160" cy="0"/>
          </a:xfrm>
          <a:prstGeom prst="line">
            <a:avLst/>
          </a:prstGeom>
          <a:ln w="22225">
            <a:solidFill>
              <a:srgbClr val="C926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5394960" y="4059935"/>
            <a:ext cx="0" cy="292609"/>
          </a:xfrm>
          <a:prstGeom prst="line">
            <a:avLst/>
          </a:prstGeom>
          <a:ln w="22225">
            <a:solidFill>
              <a:srgbClr val="C926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4572000" y="442569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C9265E"/>
                </a:solidFill>
                <a:latin typeface="Consolas"/>
              </a:rPr>
              <a:t>bad answer? try once more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447288" y="4059935"/>
            <a:ext cx="0" cy="923545"/>
          </a:xfrm>
          <a:prstGeom prst="line">
            <a:avLst/>
          </a:prstGeom>
          <a:ln w="22225">
            <a:solidFill>
              <a:srgbClr val="4C7C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447288" y="4983480"/>
            <a:ext cx="5175504" cy="0"/>
          </a:xfrm>
          <a:prstGeom prst="line">
            <a:avLst/>
          </a:prstGeom>
          <a:ln w="22225">
            <a:solidFill>
              <a:srgbClr val="4C7C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8622792" y="4059935"/>
            <a:ext cx="0" cy="923545"/>
          </a:xfrm>
          <a:prstGeom prst="line">
            <a:avLst/>
          </a:prstGeom>
          <a:ln w="22225">
            <a:solidFill>
              <a:srgbClr val="4C7C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657600" y="5038344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4C7C12"/>
                </a:solidFill>
                <a:latin typeface="Consolas"/>
              </a:rPr>
              <a:t>seen this image before? skip the VLM — it costs nothing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362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A979C"/>
                </a:solidFill>
                <a:latin typeface="Calibri"/>
              </a:rPr>
              <a:t>One graph, compiled once and shared by the CLI, the Streamlit app and the evaluation harness — so a change reaches every entry point.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E8C9B"/>
                </a:solidFill>
                <a:latin typeface="Consolas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229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E21"/>
                </a:solidFill>
                <a:latin typeface="Calibri"/>
              </a:rPr>
              <a:t>Ten images, end to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05840" cy="44450"/>
          </a:xfrm>
          <a:prstGeom prst="rect">
            <a:avLst/>
          </a:prstGeom>
          <a:solidFill>
            <a:srgbClr val="0E8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gent-ru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7100" y="1847088"/>
            <a:ext cx="7237494" cy="4069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2362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A979C"/>
                </a:solidFill>
                <a:latin typeface="Calibri"/>
              </a:rPr>
              <a:t>Real photographs from data/test, the category from each image’s folder, and the tags the agent actually returned. Image 3 is served from memory — no model call. Plays automatically in slide show.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E8C9B"/>
                </a:solidFill>
                <a:latin typeface="Consolas"/>
              </a:rPr>
              <a:t>AGENT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229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E21"/>
                </a:solidFill>
                <a:latin typeface="Calibri"/>
              </a:rPr>
              <a:t>Tools, memory and state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05840" cy="44450"/>
          </a:xfrm>
          <a:prstGeom prst="rect">
            <a:avLst/>
          </a:prstGeom>
          <a:solidFill>
            <a:srgbClr val="0E8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456432" cy="39776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D3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1828800"/>
            <a:ext cx="3456432" cy="63500"/>
          </a:xfrm>
          <a:prstGeom prst="rect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08483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B06E00"/>
                </a:solidFill>
                <a:latin typeface="Consolas"/>
              </a:rPr>
              <a:t>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3774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1A1E21"/>
                </a:solidFill>
                <a:latin typeface="Calibri"/>
              </a:rPr>
              <a:t>One, and optional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26080"/>
            <a:ext cx="2971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50" b="0">
                <a:solidFill>
                  <a:srgbClr val="5A6A70"/>
                </a:solidFill>
                <a:latin typeface="Calibri"/>
              </a:rPr>
              <a:t>Web search, on --enrich only.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50" b="0">
                <a:solidFill>
                  <a:srgbClr val="5A6A70"/>
                </a:solidFill>
                <a:latin typeface="Calibri"/>
              </a:rPr>
              <a:t>Earns awards, benchmark and energy rating — the tags no photograph shows.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50" b="0">
                <a:solidFill>
                  <a:srgbClr val="5A6A70"/>
                </a:solidFill>
                <a:latin typeface="Calibri"/>
              </a:rPr>
              <a:t>The graph calls it and writes the query; keyword rules read the reply.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50" b="0">
                <a:solidFill>
                  <a:srgbClr val="5A6A70"/>
                </a:solidFill>
                <a:latin typeface="Calibri"/>
              </a:rPr>
              <a:t>What comes back is only a candidate.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828800"/>
            <a:ext cx="3456432" cy="39776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D3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70832" y="1828800"/>
            <a:ext cx="3456432" cy="63500"/>
          </a:xfrm>
          <a:prstGeom prst="rect">
            <a:avLst/>
          </a:prstGeom>
          <a:solidFill>
            <a:srgbClr val="4C7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6864" y="208483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4C7C12"/>
                </a:solidFill>
                <a:latin typeface="Consolas"/>
              </a:rPr>
              <a:t>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3774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1A1E21"/>
                </a:solidFill>
                <a:latin typeface="Calibri"/>
              </a:rPr>
              <a:t>A result cache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926080"/>
            <a:ext cx="2971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50" b="0">
                <a:solidFill>
                  <a:srgbClr val="5A6A70"/>
                </a:solidFill>
                <a:latin typeface="Calibri"/>
              </a:rPr>
              <a:t>SQLite, keyed on image, model, context and examples.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50" b="0">
                <a:solidFill>
                  <a:srgbClr val="5A6A70"/>
                </a:solidFill>
                <a:latin typeface="Calibri"/>
              </a:rPr>
              <a:t>A hit replays tags, reasons and details.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50" b="0">
                <a:solidFill>
                  <a:srgbClr val="5A6A70"/>
                </a:solidFill>
                <a:latin typeface="Calibri"/>
              </a:rPr>
              <a:t>It still writes a results row, so ten images are ten rows.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50" b="0">
                <a:solidFill>
                  <a:srgbClr val="5A6A70"/>
                </a:solidFill>
                <a:latin typeface="Calibri"/>
              </a:rPr>
              <a:t>Survives restarts: a re-run is free for what succeeded.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5864" y="1828800"/>
            <a:ext cx="3456432" cy="39776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D3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55864" y="1828800"/>
            <a:ext cx="3456432" cy="63500"/>
          </a:xfrm>
          <a:prstGeom prst="rect">
            <a:avLst/>
          </a:prstGeom>
          <a:solidFill>
            <a:srgbClr val="5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208483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5B3FC4"/>
                </a:solidFill>
                <a:latin typeface="Consolas"/>
              </a:rP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23774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1A1E21"/>
                </a:solidFill>
                <a:latin typeface="Calibri"/>
              </a:rPr>
              <a:t>One dict per image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1896" y="2926080"/>
            <a:ext cx="2971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50" b="0">
                <a:solidFill>
                  <a:srgbClr val="5A6A70"/>
                </a:solidFill>
                <a:latin typeface="Calibri"/>
              </a:rPr>
              <a:t>A TagState travels between the nodes.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50" b="0">
                <a:solidFill>
                  <a:srgbClr val="5A6A70"/>
                </a:solidFill>
                <a:latin typeface="Calibri"/>
              </a:rPr>
              <a:t>It carries context, raw tags, kept tags, reasons, attempts.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50" b="0">
                <a:solidFill>
                  <a:srgbClr val="5A6A70"/>
                </a:solidFill>
                <a:latin typeface="Calibri"/>
              </a:rPr>
              <a:t>Nothing is global — parallel images never share state.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50" b="0">
                <a:solidFill>
                  <a:srgbClr val="5A6A70"/>
                </a:solidFill>
                <a:latin typeface="Calibri"/>
              </a:rPr>
              <a:t>The attempt count bounds the loop at two passes.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E8C9B"/>
                </a:solidFill>
                <a:latin typeface="Consolas"/>
              </a:rPr>
              <a:t>AGENT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229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E21"/>
                </a:solidFill>
                <a:latin typeface="Calibri"/>
              </a:rPr>
              <a:t>A tag outside the vocabulary cannot get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05840" cy="44450"/>
          </a:xfrm>
          <a:prstGeom prst="rect">
            <a:avLst/>
          </a:prstGeom>
          <a:solidFill>
            <a:srgbClr val="0E8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10512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5A6A70"/>
                </a:solidFill>
                <a:latin typeface="Calibri"/>
              </a:rPr>
              <a:t>Both sources of tags — what the model saw, and what the search found — go through the same filter.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2651760"/>
            <a:ext cx="2743200" cy="1234440"/>
          </a:xfrm>
          <a:prstGeom prst="roundRect">
            <a:avLst>
              <a:gd name="adj" fmla="val 16000"/>
            </a:avLst>
          </a:prstGeom>
          <a:solidFill>
            <a:srgbClr val="FBE6EC"/>
          </a:solidFill>
          <a:ln w="22225">
            <a:solidFill>
              <a:srgbClr val="C92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600200" y="27797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C9265E"/>
                </a:solidFill>
                <a:latin typeface="Consolas"/>
              </a:rPr>
              <a:t>FROM THE IMAGE · VLM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090672"/>
            <a:ext cx="24688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1A1E21"/>
                </a:solidFill>
                <a:latin typeface="Calibri"/>
              </a:rPr>
              <a:t>physical design, front angle, colour, sparkly unicorn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17320" y="4133087"/>
            <a:ext cx="2743200" cy="1005840"/>
          </a:xfrm>
          <a:prstGeom prst="roundRect">
            <a:avLst>
              <a:gd name="adj" fmla="val 16000"/>
            </a:avLst>
          </a:prstGeom>
          <a:solidFill>
            <a:srgbClr val="F8EEDC"/>
          </a:solidFill>
          <a:ln w="22225">
            <a:solidFill>
              <a:srgbClr val="B06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600200" y="424281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B06E00"/>
                </a:solidFill>
                <a:latin typeface="Consolas"/>
              </a:rPr>
              <a:t>FROM THE SEARCH · 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455371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1A1E21"/>
                </a:solidFill>
                <a:latin typeface="Calibri"/>
              </a:rPr>
              <a:t>awards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87952" y="3246120"/>
            <a:ext cx="585216" cy="228600"/>
          </a:xfrm>
          <a:prstGeom prst="line">
            <a:avLst/>
          </a:prstGeom>
          <a:ln w="22225">
            <a:solidFill>
              <a:srgbClr val="C926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187952" y="4251960"/>
            <a:ext cx="585216" cy="365760"/>
          </a:xfrm>
          <a:prstGeom prst="line">
            <a:avLst/>
          </a:prstGeom>
          <a:ln w="22225">
            <a:solidFill>
              <a:srgbClr val="B06E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828032" y="2743200"/>
            <a:ext cx="2057400" cy="2286000"/>
          </a:xfrm>
          <a:prstGeom prst="roundRect">
            <a:avLst>
              <a:gd name="adj" fmla="val 6000"/>
            </a:avLst>
          </a:prstGeom>
          <a:solidFill>
            <a:srgbClr val="F7F8F7"/>
          </a:solidFill>
          <a:ln w="31750">
            <a:solidFill>
              <a:srgbClr val="1A1E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10912" y="347472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1A1E21"/>
                </a:solidFill>
                <a:latin typeface="Calibri"/>
              </a:rPr>
              <a:t>one gate,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10912" y="3767328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1A1E21"/>
                </a:solidFill>
                <a:latin typeface="Calibri"/>
              </a:rPr>
              <a:t>both sources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0912" y="4169663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5A6A70"/>
                </a:solidFill>
                <a:latin typeface="Calibri"/>
              </a:rPr>
              <a:t>43 allowed tags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912864" y="3218688"/>
            <a:ext cx="676656" cy="0"/>
          </a:xfrm>
          <a:prstGeom prst="line">
            <a:avLst/>
          </a:prstGeom>
          <a:ln w="22225">
            <a:solidFill>
              <a:srgbClr val="1A1E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644383" y="2880360"/>
            <a:ext cx="2834640" cy="777240"/>
          </a:xfrm>
          <a:prstGeom prst="roundRect">
            <a:avLst>
              <a:gd name="adj" fmla="val 16000"/>
            </a:avLst>
          </a:prstGeom>
          <a:solidFill>
            <a:srgbClr val="EAF2DE"/>
          </a:solidFill>
          <a:ln w="22225">
            <a:solidFill>
              <a:srgbClr val="4C7C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827264" y="303580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E21"/>
                </a:solidFill>
                <a:latin typeface="Calibri"/>
              </a:rPr>
              <a:t>4 tags kept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27264" y="33284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5A6A70"/>
                </a:solidFill>
                <a:latin typeface="Calibri"/>
              </a:rPr>
              <a:t>3 seen + 1 looked up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12864" y="4526279"/>
            <a:ext cx="676656" cy="0"/>
          </a:xfrm>
          <a:prstGeom prst="line">
            <a:avLst/>
          </a:prstGeom>
          <a:ln w="22225">
            <a:solidFill>
              <a:srgbClr val="C926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644383" y="4187952"/>
            <a:ext cx="2834640" cy="777240"/>
          </a:xfrm>
          <a:prstGeom prst="roundRect">
            <a:avLst>
              <a:gd name="adj" fmla="val 16000"/>
            </a:avLst>
          </a:prstGeom>
          <a:solidFill>
            <a:srgbClr val="FBE6EC"/>
          </a:solidFill>
          <a:ln w="22225">
            <a:solidFill>
              <a:srgbClr val="C92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827264" y="434340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E21"/>
                </a:solidFill>
                <a:latin typeface="Calibri"/>
              </a:rPr>
              <a:t>1 rejected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27264" y="463600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5A6A70"/>
                </a:solidFill>
                <a:latin typeface="Calibri"/>
              </a:rPr>
              <a:t>quoted back to the model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2362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A979C"/>
                </a:solidFill>
                <a:latin typeface="Calibri"/>
              </a:rPr>
              <a:t>The feedback into the retry names only the rejected tags — never a hint at the right answer — so a second attempt stays independent evidence.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E8C9B"/>
                </a:solidFill>
                <a:latin typeface="Consolas"/>
              </a:rP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229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E21"/>
                </a:solidFill>
                <a:latin typeface="Calibri"/>
              </a:rPr>
              <a:t>Success is defined before it is measured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05840" cy="44450"/>
          </a:xfrm>
          <a:prstGeom prst="rect">
            <a:avLst/>
          </a:prstGeom>
          <a:solidFill>
            <a:srgbClr val="0E8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1051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1A1E21"/>
                </a:solidFill>
                <a:latin typeface="Calibri"/>
              </a:rPr>
              <a:t>Two metrics, against human labels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12848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5A6A70"/>
                </a:solidFill>
                <a:latin typeface="Calibri"/>
              </a:rPr>
              <a:t>The training filenames carry their own tags, so the 8 labelled images are ground truth. Scored leave-one-out: the image being scored is dropped from its own few-shot examples.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0156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5A6A70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3401568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5A6A70"/>
                </a:solidFill>
                <a:latin typeface="Consolas"/>
              </a:rPr>
              <a:t>micro-F1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401568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5A6A70"/>
                </a:solidFill>
                <a:latin typeface="Consolas"/>
              </a:rPr>
              <a:t>macro-F1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2219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5A6A70"/>
                </a:solidFill>
                <a:latin typeface="Consolas"/>
              </a:rPr>
              <a:t>constant 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3822192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5A6A70"/>
                </a:solidFill>
                <a:latin typeface="Consolas"/>
              </a:rPr>
              <a:t>0.516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822192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5A6A70"/>
                </a:solidFill>
                <a:latin typeface="Consolas"/>
              </a:rPr>
              <a:t>0.100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42816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5A6A70"/>
                </a:solidFill>
                <a:latin typeface="Consolas"/>
              </a:rPr>
              <a:t>prior top-3 baseline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4242816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5A6A70"/>
                </a:solidFill>
                <a:latin typeface="Consolas"/>
              </a:rPr>
              <a:t>0.638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4242816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5A6A70"/>
                </a:solidFill>
                <a:latin typeface="Consolas"/>
              </a:rPr>
              <a:t>0.221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599432"/>
            <a:ext cx="5230368" cy="438912"/>
          </a:xfrm>
          <a:prstGeom prst="roundRect">
            <a:avLst>
              <a:gd name="adj" fmla="val 10000"/>
            </a:avLst>
          </a:prstGeom>
          <a:solidFill>
            <a:srgbClr val="FBE6EC"/>
          </a:solidFill>
          <a:ln w="22225">
            <a:solidFill>
              <a:srgbClr val="C92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A1E21"/>
                </a:solidFill>
                <a:latin typeface="Consolas"/>
              </a:rPr>
              <a:t>the agent, --few-shot 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4663440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C9265E"/>
                </a:solidFill>
                <a:latin typeface="Consolas"/>
              </a:rPr>
              <a:t>0.857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4663440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C9265E"/>
                </a:solidFill>
                <a:latin typeface="Consolas"/>
              </a:rPr>
              <a:t>0.760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181051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1A1E21"/>
                </a:solidFill>
                <a:latin typeface="Calibri"/>
              </a:rPr>
              <a:t>Four more that need no labels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212848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5A6A70"/>
                </a:solidFill>
                <a:latin typeface="Calibri"/>
              </a:rPr>
              <a:t>These run on the 107 unlabelled test images — and in production, where labels never exist.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8950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350" b="1">
                <a:solidFill>
                  <a:srgbClr val="1A1E21"/>
                </a:solidFill>
                <a:latin typeface="Calibri"/>
              </a:rPr>
              <a:t>Task success rate — </a:t>
            </a:r>
            <a:r>
              <a:rPr sz="1350">
                <a:solidFill>
                  <a:srgbClr val="5A6A70"/>
                </a:solidFill>
                <a:latin typeface="Calibri"/>
              </a:rPr>
              <a:t>did the image come back with usable tags? Empty counts as a failure.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350" b="1">
                <a:solidFill>
                  <a:srgbClr val="1A1E21"/>
                </a:solidFill>
                <a:latin typeface="Calibri"/>
              </a:rPr>
              <a:t>Cost per task — </a:t>
            </a:r>
            <a:r>
              <a:rPr sz="1350">
                <a:solidFill>
                  <a:srgbClr val="5A6A70"/>
                </a:solidFill>
                <a:latin typeface="Calibri"/>
              </a:rPr>
              <a:t>real tokens at the published rate. An unpriced model reports blank, never $0.00.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350" b="1">
                <a:solidFill>
                  <a:srgbClr val="1A1E21"/>
                </a:solidFill>
                <a:latin typeface="Calibri"/>
              </a:rPr>
              <a:t>Latency per action — </a:t>
            </a:r>
            <a:r>
              <a:rPr sz="1350">
                <a:solidFill>
                  <a:srgbClr val="5A6A70"/>
                </a:solidFill>
                <a:latin typeface="Calibri"/>
              </a:rPr>
              <a:t>p50/p95 for encode, model call, search — not per image, which hides the slow one.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350" b="1">
                <a:solidFill>
                  <a:srgbClr val="1A1E21"/>
                </a:solidFill>
                <a:latin typeface="Calibri"/>
              </a:rPr>
              <a:t>Self-consistency — </a:t>
            </a:r>
            <a:r>
              <a:rPr sz="1350">
                <a:solidFill>
                  <a:srgbClr val="5A6A70"/>
                </a:solidFill>
                <a:latin typeface="Calibri"/>
              </a:rPr>
              <a:t>tag twice with different examples, score the overlap. Steadiness, not accuracy.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2362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A979C"/>
                </a:solidFill>
                <a:latin typeface="Calibri"/>
              </a:rPr>
              <a:t>n=8, all one phone model, and the model is not deterministic — directional, not a benchmark. The honest next step is labelling a sample of the test set.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E8C9B"/>
                </a:solidFill>
                <a:latin typeface="Consolas"/>
              </a:rPr>
              <a:t>HOSTING, LOGGING,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229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E21"/>
                </a:solidFill>
                <a:latin typeface="Calibri"/>
              </a:rPr>
              <a:t>Deployment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05840" cy="44450"/>
          </a:xfrm>
          <a:prstGeom prst="rect">
            <a:avLst/>
          </a:prstGeom>
          <a:solidFill>
            <a:srgbClr val="0E8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5A6A70"/>
                </a:solidFill>
                <a:latin typeface="Calibri"/>
              </a:rPr>
              <a:t>One container image, deployed twice — the agent package itself does not change.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331720"/>
            <a:ext cx="3456432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D3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85800" y="2331720"/>
            <a:ext cx="3456432" cy="63500"/>
          </a:xfrm>
          <a:prstGeom prst="rect">
            <a:avLst/>
          </a:prstGeom>
          <a:solidFill>
            <a:srgbClr val="0E8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57860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0E8C9B"/>
                </a:solidFill>
                <a:latin typeface="Consolas"/>
              </a:rPr>
              <a:t>RUNS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9718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0">
                <a:solidFill>
                  <a:srgbClr val="5A6A70"/>
                </a:solidFill>
                <a:latin typeface="Calibri"/>
              </a:rPr>
              <a:t>Web service: the Streamlit UI behind SSO — tens of images, answered now.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0">
                <a:solidFill>
                  <a:srgbClr val="5A6A70"/>
                </a:solidFill>
                <a:latin typeface="Calibri"/>
              </a:rPr>
              <a:t>Batch worker: reads a queue — thousands, answered overnight.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0">
                <a:solidFill>
                  <a:srgbClr val="5A6A70"/>
                </a:solidFill>
                <a:latin typeface="Calibri"/>
              </a:rPr>
              <a:t>Split so an overnight run never makes the UI queue behind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2331720"/>
            <a:ext cx="3456432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D3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70832" y="2331720"/>
            <a:ext cx="3456432" cy="63500"/>
          </a:xfrm>
          <a:prstGeom prst="rect">
            <a:avLst/>
          </a:prstGeom>
          <a:solidFill>
            <a:srgbClr val="5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6864" y="257860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5B3FC4"/>
                </a:solidFill>
                <a:latin typeface="Consolas"/>
              </a:rPr>
              <a:t>STORES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962656"/>
            <a:ext cx="29718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0">
                <a:solidFill>
                  <a:srgbClr val="5A6A70"/>
                </a:solidFill>
                <a:latin typeface="Calibri"/>
              </a:rPr>
              <a:t>Object storage for the images (was: a local folder).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0">
                <a:solidFill>
                  <a:srgbClr val="5A6A70"/>
                </a:solidFill>
                <a:latin typeface="Calibri"/>
              </a:rPr>
              <a:t>Postgres for results and memory (was: two SQLite files).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0">
                <a:solidFill>
                  <a:srgbClr val="5A6A70"/>
                </a:solidFill>
                <a:latin typeface="Calibri"/>
              </a:rPr>
              <a:t>Secret manager for the key (was: a .env file).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0">
                <a:solidFill>
                  <a:srgbClr val="5A6A70"/>
                </a:solidFill>
                <a:latin typeface="Calibri"/>
              </a:rPr>
              <a:t>Each store sits behind one class — two implementations, not a rewrite.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2331720"/>
            <a:ext cx="3456432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D3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55864" y="2331720"/>
            <a:ext cx="3456432" cy="63500"/>
          </a:xfrm>
          <a:prstGeom prst="rect">
            <a:avLst/>
          </a:prstGeom>
          <a:solidFill>
            <a:srgbClr val="4C7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257860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4C7C12"/>
                </a:solidFill>
                <a:latin typeface="Consolas"/>
              </a:rPr>
              <a:t>WATCHED 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2962656"/>
            <a:ext cx="29718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0">
                <a:solidFill>
                  <a:srgbClr val="5A6A70"/>
                </a:solidFill>
                <a:latin typeface="Calibri"/>
              </a:rPr>
              <a:t>Already built: one JSON line per event — model_call, memory_hit, image_failed, out_of_vocab_tags.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0">
                <a:solidFill>
                  <a:srgbClr val="5A6A70"/>
                </a:solidFill>
                <a:latin typeface="Calibri"/>
              </a:rPr>
              <a:t>Dashboard: the three workflow metrics.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0">
                <a:solidFill>
                  <a:srgbClr val="5A6A70"/>
                </a:solidFill>
                <a:latin typeface="Calibri"/>
              </a:rPr>
              <a:t>Alerts: success drops, cost jumps, p95 climbs, rejects rise.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2362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A979C"/>
                </a:solidFill>
                <a:latin typeface="Calibri"/>
              </a:rPr>
              <a:t>Before each release: 118 offline tests on every commit, and the labelled evaluation re-runs whenever the prompt, model or taxonomy changes.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E8C9B"/>
                </a:solidFill>
                <a:latin typeface="Consolas"/>
              </a:rPr>
              <a:t>AS THE BRIEF 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229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E21"/>
                </a:solidFill>
                <a:latin typeface="Calibri"/>
              </a:rPr>
              <a:t>How I used AI to write this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05840" cy="44450"/>
          </a:xfrm>
          <a:prstGeom prst="rect">
            <a:avLst/>
          </a:prstGeom>
          <a:solidFill>
            <a:srgbClr val="0E8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0E8C9B"/>
                </a:solidFill>
                <a:latin typeface="Calibri"/>
              </a:rPr>
              <a:t>How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92024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500" b="0">
                <a:solidFill>
                  <a:srgbClr val="5A6A70"/>
                </a:solidFill>
                <a:latin typeface="Calibri"/>
              </a:rPr>
              <a:t>Claude Code, in the terminal, working directly in the repo. I drove the design decisions — the three-node shape, the controlled vocabulary as a hard filter, which metrics to keep — and used it to write and refactor against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375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0E8C9B"/>
                </a:solidFill>
                <a:latin typeface="Calibri"/>
              </a:rPr>
              <a:t>Where it helped most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33375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500" b="0">
                <a:solidFill>
                  <a:srgbClr val="5A6A70"/>
                </a:solidFill>
                <a:latin typeface="Calibri"/>
              </a:rPr>
              <a:t>The unglamorous breadth: the test suite, the SQLite layers, the Streamlit tables, and keeping the README honest as things changed. It is fast at the work that is easy to skip.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54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0E8C9B"/>
                </a:solidFill>
                <a:latin typeface="Calibri"/>
              </a:rPr>
              <a:t>How I validated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47548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500" b="0">
                <a:solidFill>
                  <a:srgbClr val="5A6A70"/>
                </a:solidFill>
                <a:latin typeface="Calibri"/>
              </a:rPr>
              <a:t>118 offline tests that need no network and no API key, plus real runs against the live model. Two things it got wrong and the tests caught: a macro-F1 that scored a perfect 1.000 for a model spamming one wrong tag, and a metrics tab showing numbers from a run nobody had made.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2362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A979C"/>
                </a:solidFill>
                <a:latin typeface="Calibri"/>
              </a:rPr>
              <a:t>The rule I worked to: AI writes it, the tests and a real run decide whether it stays.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E8C9B"/>
                </a:solidFill>
                <a:latin typeface="Consolas"/>
              </a:rPr>
              <a:t>SCOPE WAS THREE HOURS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229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E21"/>
                </a:solidFill>
                <a:latin typeface="Calibri"/>
              </a:rPr>
              <a:t>What I would do with more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05840" cy="44450"/>
          </a:xfrm>
          <a:prstGeom prst="rect">
            <a:avLst/>
          </a:prstGeom>
          <a:solidFill>
            <a:srgbClr val="0E8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56816"/>
            <a:ext cx="384048" cy="384048"/>
          </a:xfrm>
          <a:prstGeom prst="roundRect">
            <a:avLst>
              <a:gd name="adj" fmla="val 40000"/>
            </a:avLst>
          </a:prstGeom>
          <a:solidFill>
            <a:srgbClr val="0E8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19202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E21"/>
                </a:solidFill>
                <a:latin typeface="Calibri"/>
              </a:rPr>
              <a:t>Label a sample of the test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92024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5A6A70"/>
                </a:solidFill>
                <a:latin typeface="Calibri"/>
              </a:rPr>
              <a:t>The single weakest point is that ground truth is 8 images of one phone. Two hours of labelling 50 test images would let micro-F1 speak for TVs and headphones too.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035808"/>
            <a:ext cx="384048" cy="384048"/>
          </a:xfrm>
          <a:prstGeom prst="roundRect">
            <a:avLst>
              <a:gd name="adj" fmla="val 40000"/>
            </a:avLst>
          </a:prstGeom>
          <a:solidFill>
            <a:srgbClr val="0E8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999232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E21"/>
                </a:solidFill>
                <a:latin typeface="Calibri"/>
              </a:rPr>
              <a:t>Confidence scoring, calibrated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999232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5A6A70"/>
                </a:solidFill>
                <a:latin typeface="Calibri"/>
              </a:rPr>
              <a:t>The Results table already flags rows worth review (re-prompted, unexplained tags). I would check that those rows really are less accurate, then use the score to route a review queue.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114800"/>
            <a:ext cx="384048" cy="384048"/>
          </a:xfrm>
          <a:prstGeom prst="roundRect">
            <a:avLst>
              <a:gd name="adj" fmla="val 40000"/>
            </a:avLst>
          </a:prstGeom>
          <a:solidFill>
            <a:srgbClr val="0E8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4078224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E21"/>
                </a:solidFill>
                <a:latin typeface="Calibri"/>
              </a:rPr>
              <a:t>The search tool as 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078224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5A6A70"/>
                </a:solidFill>
                <a:latin typeface="Calibri"/>
              </a:rPr>
              <a:t>tools/search.py is already generic — it returns text and knows nothing about the taxonomy — so exposing it over MCP for other agents is a wrapper, not a rewrite.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193792"/>
            <a:ext cx="384048" cy="384048"/>
          </a:xfrm>
          <a:prstGeom prst="roundRect">
            <a:avLst>
              <a:gd name="adj" fmla="val 40000"/>
            </a:avLst>
          </a:prstGeom>
          <a:solidFill>
            <a:srgbClr val="0E8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5157216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E21"/>
                </a:solidFill>
                <a:latin typeface="Calibri"/>
              </a:rPr>
              <a:t>Batch cost controls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5157216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5A6A70"/>
                </a:solidFill>
                <a:latin typeface="Calibri"/>
              </a:rPr>
              <a:t>Prompt caching for the few-shot block, and the Batch API for overnight catalogue runs at half price.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43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A979C"/>
                </a:solidFill>
                <a:latin typeface="Consolas"/>
              </a:rPr>
              <a:t>Repo: github.com/shaimaalwaisi/Content-Analysis-agent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