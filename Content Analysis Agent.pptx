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E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6CFDD"/>
                </a:solidFill>
                <a:latin typeface="Consolas"/>
              </a:rPr>
              <a:t>SONY EUROPE · AI ENGINEER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Content Analysis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>
                <a:solidFill>
                  <a:srgbClr val="B8C6CB"/>
                </a:solidFill>
                <a:latin typeface="Calibri"/>
              </a:rPr>
              <a:t>Tagging retail product images with marketing terminology — and showing its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8A979C"/>
                </a:solidFill>
                <a:latin typeface="Consolas"/>
              </a:rPr>
              <a:t>LangGraph · Claude Haiku 4.5 · CLI + Streamlit · 118 offline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PROBLEM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Thousands of images, none searchable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E21"/>
                </a:solidFill>
                <a:latin typeface="Calibri"/>
              </a:rPr>
              <a:t>The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5A6A70"/>
                </a:solidFill>
                <a:latin typeface="Calibri"/>
              </a:rPr>
              <a:t>Creators browse product pages by eye to find what works.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5A6A70"/>
                </a:solidFill>
                <a:latin typeface="Calibri"/>
              </a:rPr>
              <a:t>Nothing in an image is queryable — you cannot ask which shots show the camera.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5A6A70"/>
                </a:solidFill>
                <a:latin typeface="Calibri"/>
              </a:rPr>
              <a:t>Free text drifts: “side view” today, “side-on” tomorrow.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1A1E21"/>
                </a:solidFill>
                <a:latin typeface="Calibri"/>
              </a:rPr>
              <a:t>What this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Every image tagged </a:t>
            </a:r>
            <a:r>
              <a:rPr sz="1600">
                <a:solidFill>
                  <a:srgbClr val="5A6A70"/>
                </a:solidFill>
                <a:latin typeface="Calibri"/>
              </a:rPr>
              <a:t>from one fixed 43-word vocabulary, so the output joins to anything.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A reason per tag </a:t>
            </a:r>
            <a:r>
              <a:rPr sz="1600">
                <a:solidFill>
                  <a:srgbClr val="5A6A70"/>
                </a:solidFill>
                <a:latin typeface="Calibri"/>
              </a:rPr>
              <a:t>so a reviewer checks the thinking, not just the label.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Tags joined to views </a:t>
            </a:r>
            <a:r>
              <a:rPr sz="1600">
                <a:solidFill>
                  <a:srgbClr val="5A6A70"/>
                </a:solidFill>
                <a:latin typeface="Calibri"/>
              </a:rPr>
              <a:t>which answers the question actually asked.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2606040" cy="1234440"/>
          </a:xfrm>
          <a:prstGeom prst="roundRect">
            <a:avLst>
              <a:gd name="adj" fmla="val 16000"/>
            </a:avLst>
          </a:prstGeom>
          <a:solidFill>
            <a:srgbClr val="F7F8F7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0E8C9B"/>
                </a:solidFill>
                <a:latin typeface="Calibri"/>
              </a:rPr>
              <a:t>1.68x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6A70"/>
                </a:solidFill>
                <a:latin typeface="Consolas"/>
              </a:rPr>
              <a:t>awards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709160"/>
            <a:ext cx="2606040" cy="1234440"/>
          </a:xfrm>
          <a:prstGeom prst="roundRect">
            <a:avLst>
              <a:gd name="adj" fmla="val 16000"/>
            </a:avLst>
          </a:prstGeom>
          <a:solidFill>
            <a:srgbClr val="F7F8F7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03320" y="4892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0E8C9B"/>
                </a:solidFill>
                <a:latin typeface="Calibri"/>
              </a:rPr>
              <a:t>1.67x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6A70"/>
                </a:solidFill>
                <a:latin typeface="Consolas"/>
              </a:rPr>
              <a:t>product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709160"/>
            <a:ext cx="2606040" cy="1234440"/>
          </a:xfrm>
          <a:prstGeom prst="roundRect">
            <a:avLst>
              <a:gd name="adj" fmla="val 16000"/>
            </a:avLst>
          </a:prstGeom>
          <a:solidFill>
            <a:srgbClr val="F7F8F7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4892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0E8C9B"/>
                </a:solidFill>
                <a:latin typeface="Calibri"/>
              </a:rPr>
              <a:t>1.47x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6A70"/>
                </a:solidFill>
                <a:latin typeface="Consolas"/>
              </a:rPr>
              <a:t>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4709160"/>
            <a:ext cx="2606040" cy="1234440"/>
          </a:xfrm>
          <a:prstGeom prst="roundRect">
            <a:avLst>
              <a:gd name="adj" fmla="val 16000"/>
            </a:avLst>
          </a:prstGeom>
          <a:solidFill>
            <a:srgbClr val="F7F8F7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81159" y="4892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0E8C9B"/>
                </a:solidFill>
                <a:latin typeface="Calibri"/>
              </a:rPr>
              <a:t>0.52x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6A70"/>
                </a:solidFill>
                <a:latin typeface="Consolas"/>
              </a:rPr>
              <a:t>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Average views versus the overall mean, from meta_data.xlsx (n=44 images with view counts). Social proof and orienting shots out-perform spec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Three nodes, one branch, one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395728"/>
            <a:ext cx="7589520" cy="301752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31750">
            <a:solidFill>
              <a:srgbClr val="1A1E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468880" y="2194560"/>
            <a:ext cx="1417320" cy="292608"/>
          </a:xfrm>
          <a:prstGeom prst="roundRect">
            <a:avLst>
              <a:gd name="adj" fmla="val 40000"/>
            </a:avLst>
          </a:prstGeom>
          <a:solidFill>
            <a:srgbClr val="1A1E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THE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90672"/>
            <a:ext cx="960120" cy="9692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33924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E21"/>
                </a:solidFill>
                <a:latin typeface="Calibri"/>
              </a:rPr>
              <a:t>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3575304"/>
            <a:ext cx="585216" cy="0"/>
          </a:xfrm>
          <a:prstGeom prst="line">
            <a:avLst/>
          </a:prstGeom>
          <a:ln w="22225">
            <a:solidFill>
              <a:srgbClr val="1A1E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3090672"/>
            <a:ext cx="1783080" cy="969264"/>
          </a:xfrm>
          <a:prstGeom prst="roundRect">
            <a:avLst>
              <a:gd name="adj" fmla="val 16000"/>
            </a:avLst>
          </a:prstGeom>
          <a:solidFill>
            <a:srgbClr val="E2F2F4"/>
          </a:solidFill>
          <a:ln w="22225">
            <a:solidFill>
              <a:srgbClr val="0E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32369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E21"/>
                </a:solidFill>
                <a:latin typeface="Calibri"/>
              </a:rPr>
              <a:t>1  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A70"/>
                </a:solidFill>
                <a:latin typeface="Calibri"/>
              </a:rPr>
              <a:t>check memory first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3575304"/>
            <a:ext cx="475488" cy="0"/>
          </a:xfrm>
          <a:prstGeom prst="line">
            <a:avLst/>
          </a:prstGeom>
          <a:ln w="22225">
            <a:solidFill>
              <a:srgbClr val="1A1E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73752" y="3090672"/>
            <a:ext cx="2331720" cy="969264"/>
          </a:xfrm>
          <a:prstGeom prst="roundRect">
            <a:avLst>
              <a:gd name="adj" fmla="val 16000"/>
            </a:avLst>
          </a:prstGeom>
          <a:solidFill>
            <a:srgbClr val="FBE6EC"/>
          </a:solidFill>
          <a:ln w="22225">
            <a:solidFill>
              <a:srgbClr val="C92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56632" y="3191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E21"/>
                </a:solidFill>
                <a:latin typeface="Calibri"/>
              </a:rPr>
              <a:t>2  analyze 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3511296"/>
            <a:ext cx="457200" cy="201168"/>
          </a:xfrm>
          <a:prstGeom prst="roundRect">
            <a:avLst>
              <a:gd name="adj" fmla="val 40000"/>
            </a:avLst>
          </a:prstGeom>
          <a:solidFill>
            <a:srgbClr val="C92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VLM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4" y="35204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A70"/>
                </a:solidFill>
                <a:latin typeface="Calibri"/>
              </a:rPr>
              <a:t>Claude Haiku 4.5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785615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5A6A70"/>
                </a:solidFill>
                <a:latin typeface="Calibri"/>
              </a:rPr>
              <a:t>both sets of tags merge here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05472" y="3575304"/>
            <a:ext cx="475488" cy="0"/>
          </a:xfrm>
          <a:prstGeom prst="line">
            <a:avLst/>
          </a:prstGeom>
          <a:ln w="22225">
            <a:solidFill>
              <a:srgbClr val="1A1E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35824" y="3090672"/>
            <a:ext cx="1783080" cy="969264"/>
          </a:xfrm>
          <a:prstGeom prst="roundRect">
            <a:avLst>
              <a:gd name="adj" fmla="val 16000"/>
            </a:avLst>
          </a:prstGeom>
          <a:solidFill>
            <a:srgbClr val="ECE7FA"/>
          </a:solidFill>
          <a:ln w="22225">
            <a:solidFill>
              <a:srgbClr val="5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18704" y="32369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A1E21"/>
                </a:solidFill>
                <a:latin typeface="Calibri"/>
              </a:rPr>
              <a:t>3  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5A6A70"/>
                </a:solidFill>
                <a:latin typeface="Calibri"/>
              </a:rPr>
              <a:t>save the answer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18904" y="3575304"/>
            <a:ext cx="448056" cy="0"/>
          </a:xfrm>
          <a:prstGeom prst="line">
            <a:avLst/>
          </a:prstGeom>
          <a:ln w="22225">
            <a:solidFill>
              <a:srgbClr val="1A1E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21824" y="3090672"/>
            <a:ext cx="1051560" cy="9692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21824" y="33924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E21"/>
                </a:solidFill>
                <a:latin typeface="Calibri"/>
              </a:rPr>
              <a:t>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75504" y="1737360"/>
            <a:ext cx="1737360" cy="566928"/>
          </a:xfrm>
          <a:prstGeom prst="roundRect">
            <a:avLst>
              <a:gd name="adj" fmla="val 16000"/>
            </a:avLst>
          </a:prstGeom>
          <a:solidFill>
            <a:srgbClr val="F8EEDC"/>
          </a:solidFill>
          <a:ln w="22225">
            <a:solidFill>
              <a:srgbClr val="B0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340096" y="1837943"/>
            <a:ext cx="512064" cy="201168"/>
          </a:xfrm>
          <a:prstGeom prst="roundRect">
            <a:avLst>
              <a:gd name="adj" fmla="val 40000"/>
            </a:avLst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2057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A1E21"/>
                </a:solidFill>
                <a:latin typeface="Calibri"/>
              </a:rPr>
              <a:t>web search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532120" y="2331720"/>
            <a:ext cx="0" cy="758952"/>
          </a:xfrm>
          <a:prstGeom prst="line">
            <a:avLst/>
          </a:prstGeom>
          <a:ln w="22225">
            <a:solidFill>
              <a:srgbClr val="B06E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37960" y="2331720"/>
            <a:ext cx="0" cy="758952"/>
          </a:xfrm>
          <a:prstGeom prst="line">
            <a:avLst/>
          </a:prstGeom>
          <a:ln w="22225">
            <a:solidFill>
              <a:srgbClr val="B06E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60520" y="26334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B06E00"/>
                </a:solidFill>
                <a:latin typeface="Consolas"/>
              </a:rPr>
              <a:t>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5420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B06E00"/>
                </a:solidFill>
                <a:latin typeface="Consolas"/>
              </a:rPr>
              <a:t>text comes back into step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7797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A979C"/>
                </a:solidFill>
                <a:latin typeface="Consolas"/>
              </a:rPr>
              <a:t>only with --enrich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75120" y="4059935"/>
            <a:ext cx="0" cy="292609"/>
          </a:xfrm>
          <a:prstGeom prst="line">
            <a:avLst/>
          </a:prstGeom>
          <a:ln w="22225">
            <a:solidFill>
              <a:srgbClr val="C92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394960" y="4352544"/>
            <a:ext cx="1280160" cy="0"/>
          </a:xfrm>
          <a:prstGeom prst="line">
            <a:avLst/>
          </a:prstGeom>
          <a:ln w="22225">
            <a:solidFill>
              <a:srgbClr val="C92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94960" y="4059935"/>
            <a:ext cx="0" cy="292609"/>
          </a:xfrm>
          <a:prstGeom prst="line">
            <a:avLst/>
          </a:prstGeom>
          <a:ln w="22225">
            <a:solidFill>
              <a:srgbClr val="C926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0" y="44256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C9265E"/>
                </a:solidFill>
                <a:latin typeface="Consolas"/>
              </a:rPr>
              <a:t>bad answer? try once more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47288" y="4059935"/>
            <a:ext cx="0" cy="923545"/>
          </a:xfrm>
          <a:prstGeom prst="line">
            <a:avLst/>
          </a:prstGeom>
          <a:ln w="22225">
            <a:solidFill>
              <a:srgbClr val="4C7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447288" y="4983480"/>
            <a:ext cx="5175504" cy="0"/>
          </a:xfrm>
          <a:prstGeom prst="line">
            <a:avLst/>
          </a:prstGeom>
          <a:ln w="22225">
            <a:solidFill>
              <a:srgbClr val="4C7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22792" y="4059935"/>
            <a:ext cx="0" cy="923545"/>
          </a:xfrm>
          <a:prstGeom prst="line">
            <a:avLst/>
          </a:prstGeom>
          <a:ln w="22225">
            <a:solidFill>
              <a:srgbClr val="4C7C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0" y="50383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C7C12"/>
                </a:solidFill>
                <a:latin typeface="Consolas"/>
              </a:rPr>
              <a:t>seen this image before? skip the VLM — it costs nothing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One graph, compiled once and shared by the CLI, the Streamlit app and the evaluation harness — so a change reaches every entry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Ten images,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gent-ru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100" y="1847088"/>
            <a:ext cx="7237494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Real photographs from data/test, the category from each image’s folder, and the tags the agent actually returned. Image 3 is served from memory — no model call. Plays automatically in slide show.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Tools, memory and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5643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3456432" cy="63500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B06E00"/>
                </a:solidFill>
                <a:latin typeface="Consolas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A1E21"/>
                </a:solidFill>
                <a:latin typeface="Calibri"/>
              </a:rPr>
              <a:t>One, and 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2608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Web search, on --enrich only.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Earns awards, benchmark and energy rating — the tags no photograph shows.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The graph calls it and writes the query; keyword rules read the reply.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What comes back is only a candidate.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3456432" cy="63500"/>
          </a:xfrm>
          <a:prstGeom prst="rect">
            <a:avLst/>
          </a:prstGeom>
          <a:solidFill>
            <a:srgbClr val="4C7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084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4C7C12"/>
                </a:solidFill>
                <a:latin typeface="Consola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A1E21"/>
                </a:solidFill>
                <a:latin typeface="Calibri"/>
              </a:rPr>
              <a:t>A result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92608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SQLite, keyed on image, model, context and examples.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A hit replays tags, reasons and details.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It still writes a results row, so ten images are ten rows.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Survives restarts: a re-run is free for what succeeded.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828800"/>
            <a:ext cx="3456432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55864" y="1828800"/>
            <a:ext cx="3456432" cy="63500"/>
          </a:xfrm>
          <a:prstGeom prst="rect">
            <a:avLst/>
          </a:prstGeom>
          <a:solidFill>
            <a:srgbClr val="5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084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B3FC4"/>
                </a:solidFill>
                <a:latin typeface="Consolas"/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A1E21"/>
                </a:solidFill>
                <a:latin typeface="Calibri"/>
              </a:rPr>
              <a:t>One dict per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92608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A TagState travels between the nodes.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It carries context, raw tags, kept tags, reasons, attempts.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Nothing is global — parallel images never share state.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The attempt count bounds the loop at two passes.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A tag outside the vocabulary cannot get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A6A70"/>
                </a:solidFill>
                <a:latin typeface="Calibri"/>
              </a:rPr>
              <a:t>Both sources of tags — what the model saw, and what the search found — go through the same filter.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651760"/>
            <a:ext cx="2743200" cy="1234440"/>
          </a:xfrm>
          <a:prstGeom prst="roundRect">
            <a:avLst>
              <a:gd name="adj" fmla="val 16000"/>
            </a:avLst>
          </a:prstGeom>
          <a:solidFill>
            <a:srgbClr val="FBE6EC"/>
          </a:solidFill>
          <a:ln w="22225">
            <a:solidFill>
              <a:srgbClr val="C92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600200" y="2779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C9265E"/>
                </a:solidFill>
                <a:latin typeface="Consolas"/>
              </a:rPr>
              <a:t>FROM THE IMAGE · VLM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9067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A1E21"/>
                </a:solidFill>
                <a:latin typeface="Calibri"/>
              </a:rPr>
              <a:t>physical design, front angle, colour, sparkly unicorn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4133087"/>
            <a:ext cx="2743200" cy="1005840"/>
          </a:xfrm>
          <a:prstGeom prst="roundRect">
            <a:avLst>
              <a:gd name="adj" fmla="val 16000"/>
            </a:avLst>
          </a:prstGeom>
          <a:solidFill>
            <a:srgbClr val="F8EEDC"/>
          </a:solidFill>
          <a:ln w="22225">
            <a:solidFill>
              <a:srgbClr val="B0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600200" y="4242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B06E00"/>
                </a:solidFill>
                <a:latin typeface="Consolas"/>
              </a:rPr>
              <a:t>FROM THE SEARCH ·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55371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E21"/>
                </a:solidFill>
                <a:latin typeface="Calibri"/>
              </a:rPr>
              <a:t>awards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87952" y="3246120"/>
            <a:ext cx="585216" cy="228600"/>
          </a:xfrm>
          <a:prstGeom prst="line">
            <a:avLst/>
          </a:prstGeom>
          <a:ln w="22225">
            <a:solidFill>
              <a:srgbClr val="C926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87952" y="4251960"/>
            <a:ext cx="585216" cy="365760"/>
          </a:xfrm>
          <a:prstGeom prst="line">
            <a:avLst/>
          </a:prstGeom>
          <a:ln w="22225">
            <a:solidFill>
              <a:srgbClr val="B06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28032" y="2743200"/>
            <a:ext cx="2057400" cy="2286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31750">
            <a:solidFill>
              <a:srgbClr val="1A1E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10912" y="34747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A1E21"/>
                </a:solidFill>
                <a:latin typeface="Calibri"/>
              </a:rPr>
              <a:t>one gate,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76732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A1E21"/>
                </a:solidFill>
                <a:latin typeface="Calibri"/>
              </a:rPr>
              <a:t>both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4169663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A6A70"/>
                </a:solidFill>
                <a:latin typeface="Calibri"/>
              </a:rPr>
              <a:t>43 allowed tags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12864" y="3218688"/>
            <a:ext cx="676656" cy="0"/>
          </a:xfrm>
          <a:prstGeom prst="line">
            <a:avLst/>
          </a:prstGeom>
          <a:ln w="22225">
            <a:solidFill>
              <a:srgbClr val="1A1E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44383" y="2880360"/>
            <a:ext cx="2834640" cy="777240"/>
          </a:xfrm>
          <a:prstGeom prst="roundRect">
            <a:avLst>
              <a:gd name="adj" fmla="val 16000"/>
            </a:avLst>
          </a:prstGeom>
          <a:solidFill>
            <a:srgbClr val="EAF2DE"/>
          </a:solidFill>
          <a:ln w="22225">
            <a:solidFill>
              <a:srgbClr val="4C7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27264" y="303580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4 tags kept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33284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A6A70"/>
                </a:solidFill>
                <a:latin typeface="Calibri"/>
              </a:rPr>
              <a:t>3 seen + 1 looked up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12864" y="4526279"/>
            <a:ext cx="676656" cy="0"/>
          </a:xfrm>
          <a:prstGeom prst="line">
            <a:avLst/>
          </a:prstGeom>
          <a:ln w="22225">
            <a:solidFill>
              <a:srgbClr val="C926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44383" y="4187952"/>
            <a:ext cx="2834640" cy="777240"/>
          </a:xfrm>
          <a:prstGeom prst="roundRect">
            <a:avLst>
              <a:gd name="adj" fmla="val 16000"/>
            </a:avLst>
          </a:prstGeom>
          <a:solidFill>
            <a:srgbClr val="FBE6EC"/>
          </a:solidFill>
          <a:ln w="22225">
            <a:solidFill>
              <a:srgbClr val="C92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27264" y="4343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1 rejected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46360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A6A70"/>
                </a:solidFill>
                <a:latin typeface="Calibri"/>
              </a:rPr>
              <a:t>quoted back to the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The feedback into the retry names only the rejected tags — never a hint at the right answer — so a second attempt stays independent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Success is defined before it is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A1E21"/>
                </a:solidFill>
                <a:latin typeface="Calibri"/>
              </a:rPr>
              <a:t>Two metrics, against human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The training filenames carry their own tags, so the 8 labelled images are ground truth. Scored leave-one-out: the image being scored is dropped from its own few-shot examples.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5A6A70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40156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5A6A70"/>
                </a:solidFill>
                <a:latin typeface="Consolas"/>
              </a:rPr>
              <a:t>micro-F1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401568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5A6A70"/>
                </a:solidFill>
                <a:latin typeface="Consolas"/>
              </a:rPr>
              <a:t>macro-F1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constant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8221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0.516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8221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0.100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428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prior top-3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4281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0.638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242816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A6A70"/>
                </a:solidFill>
                <a:latin typeface="Consolas"/>
              </a:rPr>
              <a:t>0.221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99432"/>
            <a:ext cx="5230368" cy="438912"/>
          </a:xfrm>
          <a:prstGeom prst="roundRect">
            <a:avLst>
              <a:gd name="adj" fmla="val 10000"/>
            </a:avLst>
          </a:prstGeom>
          <a:solidFill>
            <a:srgbClr val="FBE6EC"/>
          </a:solidFill>
          <a:ln w="22225">
            <a:solidFill>
              <a:srgbClr val="C92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A1E21"/>
                </a:solidFill>
                <a:latin typeface="Consolas"/>
              </a:rPr>
              <a:t>the agent, --few-shot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663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C9265E"/>
                </a:solidFill>
                <a:latin typeface="Consolas"/>
              </a:rPr>
              <a:t>0.745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6634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C9265E"/>
                </a:solidFill>
                <a:latin typeface="Consolas"/>
              </a:rPr>
              <a:t>0.555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105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A1E21"/>
                </a:solidFill>
                <a:latin typeface="Calibri"/>
              </a:rPr>
              <a:t>Four more that need no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128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These run on the 107 unlabelled test images — and in production, where labels never exist.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8950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1">
                <a:solidFill>
                  <a:srgbClr val="1A1E21"/>
                </a:solidFill>
                <a:latin typeface="Calibri"/>
              </a:rPr>
              <a:t>Task success rate — </a:t>
            </a:r>
            <a:r>
              <a:rPr sz="1350">
                <a:solidFill>
                  <a:srgbClr val="5A6A70"/>
                </a:solidFill>
                <a:latin typeface="Calibri"/>
              </a:rPr>
              <a:t>did the image come back with usable tags? Empty counts as a failure.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1">
                <a:solidFill>
                  <a:srgbClr val="1A1E21"/>
                </a:solidFill>
                <a:latin typeface="Calibri"/>
              </a:rPr>
              <a:t>Cost per task — </a:t>
            </a:r>
            <a:r>
              <a:rPr sz="1350">
                <a:solidFill>
                  <a:srgbClr val="5A6A70"/>
                </a:solidFill>
                <a:latin typeface="Calibri"/>
              </a:rPr>
              <a:t>real tokens at the published rate. An unpriced model reports blank, never $0.00.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1">
                <a:solidFill>
                  <a:srgbClr val="1A1E21"/>
                </a:solidFill>
                <a:latin typeface="Calibri"/>
              </a:rPr>
              <a:t>Latency per action — </a:t>
            </a:r>
            <a:r>
              <a:rPr sz="1350">
                <a:solidFill>
                  <a:srgbClr val="5A6A70"/>
                </a:solidFill>
                <a:latin typeface="Calibri"/>
              </a:rPr>
              <a:t>p50/p95 for encode, model call, search — not per image, which hides the slow one.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50" b="1">
                <a:solidFill>
                  <a:srgbClr val="1A1E21"/>
                </a:solidFill>
                <a:latin typeface="Calibri"/>
              </a:rPr>
              <a:t>Self-consistency — </a:t>
            </a:r>
            <a:r>
              <a:rPr sz="1350">
                <a:solidFill>
                  <a:srgbClr val="5A6A70"/>
                </a:solidFill>
                <a:latin typeface="Calibri"/>
              </a:rPr>
              <a:t>tag twice with different examples, score the overlap. Steadiness, not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n=8, all one phone model, and the model is not deterministic — directional, not a benchmark. The honest next step is labelling a sample of the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HOSTING, LOGGING,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Deployment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5A6A70"/>
                </a:solidFill>
                <a:latin typeface="Calibri"/>
              </a:rPr>
              <a:t>One container image, deployed twice — the agent package itself does not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3456432" cy="6350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0E8C9B"/>
                </a:solidFill>
                <a:latin typeface="Consolas"/>
              </a:rPr>
              <a:t>RUNS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Web service: the Streamlit UI behind SSO — tens of images, answered now.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Batch worker: reads a queue — thousands, answered overnight.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Split so an overnight run never makes the UI queue behind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331720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70832" y="2331720"/>
            <a:ext cx="3456432" cy="63500"/>
          </a:xfrm>
          <a:prstGeom prst="rect">
            <a:avLst/>
          </a:prstGeom>
          <a:solidFill>
            <a:srgbClr val="5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5786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5B3FC4"/>
                </a:solidFill>
                <a:latin typeface="Consolas"/>
              </a:rPr>
              <a:t>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962656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Object storage for the images (was: a local folder).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Postgres for results and memory (was: two SQLite files).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Secret manager for the key (was: a .env file).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Each store sits behind one class — two implementations, not a rewrite.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331720"/>
            <a:ext cx="3456432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D3D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2331720"/>
            <a:ext cx="3456432" cy="63500"/>
          </a:xfrm>
          <a:prstGeom prst="rect">
            <a:avLst/>
          </a:prstGeom>
          <a:solidFill>
            <a:srgbClr val="4C7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5786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4C7C12"/>
                </a:solidFill>
                <a:latin typeface="Consolas"/>
              </a:rPr>
              <a:t>WATCHED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962656"/>
            <a:ext cx="2971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Already built: one JSON line per event — model_call, memory_hit, image_failed, out_of_vocab_tags.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Dashboard: the three workflow metrics.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>
                <a:solidFill>
                  <a:srgbClr val="5A6A70"/>
                </a:solidFill>
                <a:latin typeface="Calibri"/>
              </a:rPr>
              <a:t>Alerts: success drops, cost jumps, p95 climbs, rejects rise.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Before each release: 118 offline tests on every commit, and the labelled evaluation re-runs whenever the prompt, model or taxonomy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AS THE BRIEF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How I used AI to write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E8C9B"/>
                </a:solidFill>
                <a:latin typeface="Calibri"/>
              </a:rPr>
              <a:t>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500" b="0">
                <a:solidFill>
                  <a:srgbClr val="5A6A70"/>
                </a:solidFill>
                <a:latin typeface="Calibri"/>
              </a:rPr>
              <a:t>Claude Code, in the terminal, working directly in the repo. I drove the design decisions — the three-node shape, the controlled vocabulary as a hard filter, which metrics to keep — and used it to write and refactor against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E8C9B"/>
                </a:solidFill>
                <a:latin typeface="Calibri"/>
              </a:rPr>
              <a:t>Where it helped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3375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500" b="0">
                <a:solidFill>
                  <a:srgbClr val="5A6A70"/>
                </a:solidFill>
                <a:latin typeface="Calibri"/>
              </a:rPr>
              <a:t>The unglamorous breadth: the test suite, the SQLite layers, the Streamlit tables, and keeping the README honest as things changed. It is fast at the work that is easy to skip.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E8C9B"/>
                </a:solidFill>
                <a:latin typeface="Calibri"/>
              </a:rPr>
              <a:t>How I validated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7548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500" b="0">
                <a:solidFill>
                  <a:srgbClr val="5A6A70"/>
                </a:solidFill>
                <a:latin typeface="Calibri"/>
              </a:rPr>
              <a:t>118 offline tests that need no network and no API key, plus real runs against the live model. Two things it got wrong and the tests caught: a macro-F1 that scored a perfect 1.000 for a model spamming one wrong tag, and a metrics tab showing numbers from a run nobody had made.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36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A979C"/>
                </a:solidFill>
                <a:latin typeface="Calibri"/>
              </a:rPr>
              <a:t>The rule I worked to: AI writes it, the tests and a real run decide whether it stays.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E8C9B"/>
                </a:solidFill>
                <a:latin typeface="Consolas"/>
              </a:rPr>
              <a:t>SCOPE WAS THREE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A1E21"/>
                </a:solidFill>
                <a:latin typeface="Calibri"/>
              </a:rPr>
              <a:t>What I would do with more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05840" cy="44450"/>
          </a:xfrm>
          <a:prstGeom prst="rect">
            <a:avLst/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56816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920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Label a sample of the test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202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The single weakest point is that ground truth is 8 images of one phone. Two hours of labelling 50 test images would let micro-F1 speak for TVs and headphones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35808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Confidence scoring, calibrated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99232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The Results table already flags rows worth review (re-prompted, unexplained tags). I would check that those rows really are less accurate, then use the score to route a review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14800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07822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The search tool as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78224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tools/search.py is already generic — it returns text and knows nothing about the taxonomy — so exposing it over MCP for other agents is a wrapper, not a rewrite.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93792"/>
            <a:ext cx="384048" cy="384048"/>
          </a:xfrm>
          <a:prstGeom prst="roundRect">
            <a:avLst>
              <a:gd name="adj" fmla="val 40000"/>
            </a:avLst>
          </a:prstGeom>
          <a:solidFill>
            <a:srgbClr val="0E8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51572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A1E21"/>
                </a:solidFill>
                <a:latin typeface="Calibri"/>
              </a:rPr>
              <a:t>Batch cost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57216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5A6A70"/>
                </a:solidFill>
                <a:latin typeface="Calibri"/>
              </a:rPr>
              <a:t>Prompt caching for the few-shot block, and the Batch API for overnight catalogue runs at half price.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A979C"/>
                </a:solidFill>
                <a:latin typeface="Consolas"/>
              </a:rPr>
              <a:t>Repo: github.com/shaimaalwaisi/Content-Analysis-agent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